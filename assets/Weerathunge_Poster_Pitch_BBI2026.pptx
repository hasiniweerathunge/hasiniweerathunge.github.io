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1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4018"/>
    <a:srgbClr val="8BBAE8"/>
    <a:srgbClr val="D3E9FB"/>
    <a:srgbClr val="A0D4C6"/>
    <a:srgbClr val="F9B347"/>
    <a:srgbClr val="FEF0DF"/>
    <a:srgbClr val="BD88D4"/>
    <a:srgbClr val="D7EDEA"/>
    <a:srgbClr val="DECA4F"/>
    <a:srgbClr val="E34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D707DE-0445-4C59-A87F-72CBBFBD6D36}" v="65" dt="2026-09-14T19:40:03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31"/>
    <p:restoredTop sz="67070" autoAdjust="0"/>
  </p:normalViewPr>
  <p:slideViewPr>
    <p:cSldViewPr snapToGrid="0">
      <p:cViewPr varScale="1">
        <p:scale>
          <a:sx n="10" d="100"/>
          <a:sy n="10" d="100"/>
        </p:scale>
        <p:origin x="558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DA0E6-6395-924B-BEA9-2FD7D177E4B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A680B-8031-8046-9D2A-3AB9AF5EE6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02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study aims to establish an individualized workflow to probe the causal thalamocortical mechanisms underlying persistent developmental stuttering.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680B-8031-8046-9D2A-3AB9AF5EE6D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104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Persistent developmental stuttering has been associated with altered basal ganglia–</a:t>
            </a:r>
            <a:r>
              <a:rPr lang="en-US" dirty="0" err="1"/>
              <a:t>thalamo</a:t>
            </a:r>
            <a:r>
              <a:rPr lang="en-US" dirty="0"/>
              <a:t>–cortical and </a:t>
            </a:r>
            <a:r>
              <a:rPr lang="en-US" dirty="0" err="1"/>
              <a:t>cerebello</a:t>
            </a:r>
            <a:r>
              <a:rPr lang="en-US" dirty="0"/>
              <a:t>–</a:t>
            </a:r>
            <a:r>
              <a:rPr lang="en-US" dirty="0" err="1"/>
              <a:t>thalamo</a:t>
            </a:r>
            <a:r>
              <a:rPr lang="en-US" dirty="0"/>
              <a:t>–cortical circuits involved in speech timing, sequencing, and response control.</a:t>
            </a:r>
          </a:p>
          <a:p>
            <a:r>
              <a:rPr lang="en-US" dirty="0"/>
              <a:t>However, much of this evidence is correlational. Our question is whether we can perturb one deep node in these circuits and observe measurable behavioral and neural consequences.</a:t>
            </a:r>
          </a:p>
          <a:p>
            <a:r>
              <a:rPr lang="en-US" dirty="0"/>
              <a:t>We focus on the left ventral intermediate nucleus of the thalamus, or VIM, thalamus—because it provides a clinically and experimentally motivated entry point into motor thalamocortical circuitry.</a:t>
            </a:r>
          </a:p>
          <a:p>
            <a:r>
              <a:rPr lang="en-US" dirty="0"/>
              <a:t>We use low-intensity focused ultrasound, or LIFU, to test whether perturbing VIM changes speech fluency, motor timing, response inhibition, and neural functional connectivity between cortical and subcortical nodes of thalamocortical circuits.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680B-8031-8046-9D2A-3AB9AF5EE6D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385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conducting an MRI-guided, within-participant active-versus-sham pilot study in adults with persistent developmental stuttering.</a:t>
            </a:r>
          </a:p>
          <a:p>
            <a:endParaRPr lang="en-US" dirty="0"/>
          </a:p>
          <a:p>
            <a:r>
              <a:rPr lang="en-US" dirty="0"/>
              <a:t>The left VIM target is individualized using structural MRI. Participants receive either active or sham LIFU, followed by pre- and post-stimulation assessments.</a:t>
            </a:r>
          </a:p>
          <a:p>
            <a:r>
              <a:rPr lang="en-US" dirty="0"/>
              <a:t>These assessments include the neural, behavioral, and speech outcomes.</a:t>
            </a:r>
          </a:p>
          <a:p>
            <a:endParaRPr lang="en-US" dirty="0"/>
          </a:p>
          <a:p>
            <a:r>
              <a:rPr lang="en-US" dirty="0"/>
              <a:t>Percent stuttering severity in speech, </a:t>
            </a:r>
          </a:p>
          <a:p>
            <a:r>
              <a:rPr lang="en-US" dirty="0"/>
              <a:t>Stop-Signal Task, which measures response inhibition; the Beat-Based Advantage Task, which measures rhythm-discrimination sensitivity; </a:t>
            </a:r>
          </a:p>
          <a:p>
            <a:r>
              <a:rPr lang="en-US" dirty="0"/>
              <a:t>and resting-state as well as task based functional connectivity.</a:t>
            </a:r>
          </a:p>
          <a:p>
            <a:endParaRPr lang="en-US" dirty="0"/>
          </a:p>
          <a:p>
            <a:r>
              <a:rPr lang="en-US" dirty="0"/>
              <a:t>The central prediction is that active VIM-LIFU will produce condition-specific changes in connectivity within speech-motor circuits, behavioral variations in response control, motor timing, as well as modulation of speech fluency.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680B-8031-8046-9D2A-3AB9AF5EE6D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93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preliminary findings from the first two participants, so we are presenting them descriptively rather than as group-level inference.</a:t>
            </a:r>
          </a:p>
          <a:p>
            <a:endParaRPr lang="en-US" dirty="0"/>
          </a:p>
          <a:p>
            <a:r>
              <a:rPr lang="en-US" dirty="0"/>
              <a:t>Behaviorally, active LIFU appears to alter response-control dynamics relative to sham. </a:t>
            </a:r>
          </a:p>
          <a:p>
            <a:r>
              <a:rPr lang="en-US" dirty="0"/>
              <a:t>We also see an early pattern suggesting enhanced discrimination of simple rhythms after active stimulation.</a:t>
            </a:r>
          </a:p>
          <a:p>
            <a:endParaRPr lang="en-US" dirty="0"/>
          </a:p>
          <a:p>
            <a:r>
              <a:rPr lang="en-US" dirty="0"/>
              <a:t>In the resting-state data, using the stimulated coordinates of the left VIM as a seed, we observe preliminary pre–post changes in connectivity with inferior frontal regions, including triangular and opercular subdivisions of the inferior frontal gyrus.</a:t>
            </a:r>
          </a:p>
          <a:p>
            <a:r>
              <a:rPr lang="en-US" dirty="0"/>
              <a:t>However, </a:t>
            </a:r>
            <a:r>
              <a:rPr lang="en-US" sz="1200" dirty="0">
                <a:solidFill>
                  <a:srgbClr val="002060"/>
                </a:solidFill>
              </a:rPr>
              <a:t>Preliminary findings remain heterogeneous across participants</a:t>
            </a:r>
          </a:p>
          <a:p>
            <a:endParaRPr lang="en-US" dirty="0"/>
          </a:p>
          <a:p>
            <a:r>
              <a:rPr lang="en-US" dirty="0"/>
              <a:t>This gives us an early indication that VIM-LIFU may influence both behavior and distributed cortical circuitry. </a:t>
            </a:r>
          </a:p>
          <a:p>
            <a:endParaRPr lang="en-US" dirty="0"/>
          </a:p>
          <a:p>
            <a:r>
              <a:rPr lang="en-US" dirty="0"/>
              <a:t>These results are not yet definitive, but they establish feasibility and motivate completion of the pilot.</a:t>
            </a:r>
          </a:p>
          <a:p>
            <a:endParaRPr lang="en-US" dirty="0"/>
          </a:p>
          <a:p>
            <a:r>
              <a:rPr lang="en-US" dirty="0"/>
              <a:t>The take-home message is that MRI-guided VIM-LIFU provides a way to move from correlational circuit differences in stuttering toward a causal, multimodal test of speech-motor networks.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rgbClr val="00206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rgbClr val="00206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680B-8031-8046-9D2A-3AB9AF5EE6D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11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03E2-BEFB-0282-DB48-AEF20A1BE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45DF9-FC35-53E1-7B17-0C4947AA8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220E3-378F-D524-7D69-2CFD7D63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A689D-2470-8F37-F010-9EFCC21FE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3EB22-AFB4-8758-22A8-DED69341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36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37DB-132E-26FE-954D-D19E52E61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ED72-5A53-A959-BC1B-93CCAF389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E6606-C30E-A33D-D9C4-7581103E1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34677-F49A-7595-188E-205FFF1BE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9412F-0338-D56C-433A-A583D0A4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088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E5354-51CA-81A1-07C2-B7A217464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6AB61-8B61-BAED-5CBA-506641A4F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1F9AA-BA5B-09C2-7647-1C86B834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016DB-52F8-DA88-D67C-6D3173CB0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810EE-F193-7146-2C1F-8DBABF0A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85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0D60-83B8-D6EF-B343-ABC4320DD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852EF-F094-1E27-DC75-C21D2BE71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E5F28-BBB4-6101-5B59-454DDC07E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B7474-F34F-554C-1047-5DCCFFEB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FB274-7CB6-4F7D-C398-CA896B71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630EA-F693-DCF8-0BD4-FEDB41BB0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373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0C86-3091-B64C-8835-6F87E932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A887D-097C-8D28-815D-24BB2AC47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0A4B-5F17-B433-6128-E2145DF46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47AF7C-1603-609F-612E-72A47B8B2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573FB-8E1E-DC76-20B1-4E1C3068E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03DCE-A169-B491-3E37-721EBD4B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60548-8438-C541-2DC7-FF7FCD9F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C17688-F69B-121A-15CE-2C1B150F7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81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C7A7-C13A-76A3-24DF-627E5839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25F18F-72FF-052E-DF0E-E951BC3A8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90C83-8213-A8F4-0EC7-1C04CCF9B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1F5AF-AE55-77ED-7318-1F226AD20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00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25EAE2-E686-C6CE-23E8-FD4B508D2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3B83D-54CF-9F42-3E27-D7FD2E336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C258D-63B5-B5BD-3B31-9638B7B0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59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F4AD0-F63E-0FE5-6C57-E07B99EA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D38A4-8517-623D-3004-89A9172F6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6FFB9-83BC-5D8D-C00A-8495AC719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1CDB4-9DB7-A577-989C-A188157A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3B4F2-17DC-EBFA-1578-E9CCE8C1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C4413-8D18-9A7D-78E5-44B71A99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60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55E6-AE6E-3F39-72E1-55958E81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7024E-56DF-CE80-42CC-DC56B97EF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79DAB-29C1-A00A-E6BD-AF0EF41E4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CFFD4-A781-4008-7EE8-7228F17A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6246F-F431-9170-F51A-D2F63768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0C97D-5241-9E4F-8E13-400DD81B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840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ADE6-86EA-1787-DA21-61687B25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6C1DF-19CC-911B-471B-232496BA2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D31E-EFA5-E594-2EBA-520DB30DA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B787C-A024-3397-D693-EEBB496D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993D8-1E7A-05E2-0281-F6A0ED5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54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1289F-D5CE-637A-74A9-222A45514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04D7B-F3AE-DB20-403B-EDAC7F9B1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427CE-05EC-C22F-DE7C-39AFA33F0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F84A-62EA-49E5-5953-121E7D6F8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A5382-6854-6327-D348-93C0C25A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94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954AA-FA9B-C20D-69A3-71A393EA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D813F-9548-4B85-6664-DB9D2F158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14AD2-018B-43CF-DF4B-11AD53CFC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0D019-8AC4-844D-9620-AE28EE0E5144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F56A4-CA9A-A6FF-635F-639EADA69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C4CBA-ED9C-21D8-3413-1DE0C15B6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7E0A7-BDF2-E844-AF3A-B30A9097A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84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svg"/><Relationship Id="rId7" Type="http://schemas.openxmlformats.org/officeDocument/2006/relationships/image" Target="../media/image10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20FF4B-F871-C887-BF93-DB406EC36D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 l="7813" r="13012" b="6165"/>
          <a:stretch>
            <a:fillRect/>
          </a:stretch>
        </p:blipFill>
        <p:spPr>
          <a:xfrm rot="16200000">
            <a:off x="2667001" y="-2667001"/>
            <a:ext cx="6857999" cy="121920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8BC3C4-E07E-4E6A-3823-7D5C2BC059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768418" y="317894"/>
            <a:ext cx="1991782" cy="25109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DAB658-8EF7-55E8-41A4-2482259E984F}"/>
              </a:ext>
            </a:extLst>
          </p:cNvPr>
          <p:cNvSpPr txBox="1">
            <a:spLocks/>
          </p:cNvSpPr>
          <p:nvPr/>
        </p:nvSpPr>
        <p:spPr>
          <a:xfrm>
            <a:off x="264160" y="2828836"/>
            <a:ext cx="922528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Noninvasive Thalamocortical Neuromodulation with Low-Intensity Focused Ultrasound for Persistent Developmental Stuttering</a:t>
            </a:r>
          </a:p>
          <a:p>
            <a:endParaRPr lang="en-GB" sz="36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3200" i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Hasini Weerathunge, PhD</a:t>
            </a:r>
          </a:p>
          <a:p>
            <a:r>
              <a:rPr lang="en-GB" sz="3200" i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Postdoctoral Fellow, University of Michigan</a:t>
            </a:r>
            <a:endParaRPr lang="en-GB" sz="3600" i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798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024C69-DA72-FD55-6F15-ACD0FFEFF2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/>
          <a:stretch/>
        </p:blipFill>
        <p:spPr>
          <a:xfrm>
            <a:off x="8272162" y="5361185"/>
            <a:ext cx="3919838" cy="14944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30BC66-2147-341C-DE11-147B6924C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7739" y="6038821"/>
            <a:ext cx="1166555" cy="4222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6A7770-28B0-3E51-E029-15C124F50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0" y="621946"/>
            <a:ext cx="4258269" cy="4277322"/>
          </a:xfrm>
          <a:prstGeom prst="rect">
            <a:avLst/>
          </a:prstGeom>
        </p:spPr>
      </p:pic>
      <p:sp>
        <p:nvSpPr>
          <p:cNvPr id="5" name="Lightning Bolt 4">
            <a:extLst>
              <a:ext uri="{FF2B5EF4-FFF2-40B4-BE49-F238E27FC236}">
                <a16:creationId xmlns:a16="http://schemas.microsoft.com/office/drawing/2014/main" id="{3F755273-9F5A-2A4E-C41B-4A46F040492C}"/>
              </a:ext>
            </a:extLst>
          </p:cNvPr>
          <p:cNvSpPr/>
          <p:nvPr/>
        </p:nvSpPr>
        <p:spPr>
          <a:xfrm flipH="1">
            <a:off x="10677739" y="3077493"/>
            <a:ext cx="349382" cy="380245"/>
          </a:xfrm>
          <a:prstGeom prst="lightningBol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F90407-311A-797B-A5C1-3BA4A5BEB587}"/>
              </a:ext>
            </a:extLst>
          </p:cNvPr>
          <p:cNvSpPr/>
          <p:nvPr/>
        </p:nvSpPr>
        <p:spPr>
          <a:xfrm>
            <a:off x="10852430" y="2682984"/>
            <a:ext cx="707592" cy="54346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</a:rPr>
              <a:t>LIFU Stim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8D4F5-D201-56B1-E186-4965B3C743BD}"/>
              </a:ext>
            </a:extLst>
          </p:cNvPr>
          <p:cNvSpPr txBox="1"/>
          <p:nvPr/>
        </p:nvSpPr>
        <p:spPr>
          <a:xfrm>
            <a:off x="7674494" y="4576102"/>
            <a:ext cx="405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Cortico-basal-ganglia and cerebellar- thalamocortical pathways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4B34D-9BD8-09F3-6B2E-FCDB01918F89}"/>
              </a:ext>
            </a:extLst>
          </p:cNvPr>
          <p:cNvSpPr txBox="1"/>
          <p:nvPr/>
        </p:nvSpPr>
        <p:spPr>
          <a:xfrm>
            <a:off x="235068" y="146975"/>
            <a:ext cx="9538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Can we causally perturb speech-motor circuitry in stuttering?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32160A-B29B-5860-E77E-4C677A49F65D}"/>
              </a:ext>
            </a:extLst>
          </p:cNvPr>
          <p:cNvSpPr txBox="1"/>
          <p:nvPr/>
        </p:nvSpPr>
        <p:spPr>
          <a:xfrm>
            <a:off x="235067" y="815335"/>
            <a:ext cx="70666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Persistent developmental stuttering has been associated with altered cerebellar and basal ganglia–thalamocortical networks involved in speech sequencing and timing.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targeted the ventral intermediate thalamus using MRI-guided low-intensity focused ultrasound.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Research question:</a:t>
            </a:r>
            <a:r>
              <a:rPr lang="en-US" sz="2000" dirty="0"/>
              <a:t> Does VIM-LIFU alter neural, behavioral, and speech measures related to speech motor control?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2D62DB-934F-E570-C545-E00FE8934F4C}"/>
              </a:ext>
            </a:extLst>
          </p:cNvPr>
          <p:cNvSpPr txBox="1"/>
          <p:nvPr/>
        </p:nvSpPr>
        <p:spPr>
          <a:xfrm>
            <a:off x="623256" y="6038821"/>
            <a:ext cx="6752329" cy="400110"/>
          </a:xfrm>
          <a:prstGeom prst="rect">
            <a:avLst/>
          </a:prstGeom>
          <a:solidFill>
            <a:srgbClr val="DECA4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Correlational circuit evidence → Causal neuromodulation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6185A2-6C76-E3E3-CFB1-E30E09CD3AC5}"/>
              </a:ext>
            </a:extLst>
          </p:cNvPr>
          <p:cNvSpPr txBox="1"/>
          <p:nvPr/>
        </p:nvSpPr>
        <p:spPr>
          <a:xfrm>
            <a:off x="235067" y="4454571"/>
            <a:ext cx="73696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The VIM is a cerebellar-receiving motor-thalamic node whose projections intersect with cortical regions participating in basal-ganglia–</a:t>
            </a:r>
            <a:r>
              <a:rPr lang="en-US" i="1" dirty="0" err="1">
                <a:solidFill>
                  <a:schemeClr val="accent1"/>
                </a:solidFill>
              </a:rPr>
              <a:t>thalamo</a:t>
            </a:r>
            <a:r>
              <a:rPr lang="en-US" i="1" dirty="0">
                <a:solidFill>
                  <a:schemeClr val="accent1"/>
                </a:solidFill>
              </a:rPr>
              <a:t>-cortical speech-control loops.</a:t>
            </a:r>
          </a:p>
        </p:txBody>
      </p:sp>
    </p:spTree>
    <p:extLst>
      <p:ext uri="{BB962C8B-B14F-4D97-AF65-F5344CB8AC3E}">
        <p14:creationId xmlns:p14="http://schemas.microsoft.com/office/powerpoint/2010/main" val="105351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BE6B6-F56A-5BBB-4AC4-F9AFE3D7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B77902-30D5-9B36-53E9-20798E8A9A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/>
          <a:stretch/>
        </p:blipFill>
        <p:spPr>
          <a:xfrm>
            <a:off x="8272162" y="5361185"/>
            <a:ext cx="3919838" cy="14944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A02CD3C-4914-3098-F306-C74540E747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7739" y="6038821"/>
            <a:ext cx="1166555" cy="4222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C13053-D623-E398-5B71-138FA78F10FE}"/>
              </a:ext>
            </a:extLst>
          </p:cNvPr>
          <p:cNvSpPr txBox="1"/>
          <p:nvPr/>
        </p:nvSpPr>
        <p:spPr>
          <a:xfrm>
            <a:off x="235068" y="146975"/>
            <a:ext cx="9538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Within-participant active–sham VIM-LIFU study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75915-203A-116E-B2C1-B349BEC527AC}"/>
              </a:ext>
            </a:extLst>
          </p:cNvPr>
          <p:cNvSpPr txBox="1"/>
          <p:nvPr/>
        </p:nvSpPr>
        <p:spPr>
          <a:xfrm>
            <a:off x="9844982" y="208530"/>
            <a:ext cx="2119944" cy="400110"/>
          </a:xfrm>
          <a:prstGeom prst="rect">
            <a:avLst/>
          </a:prstGeom>
          <a:solidFill>
            <a:srgbClr val="DECA4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Preliminary N = 2</a:t>
            </a:r>
            <a:endParaRPr lang="en-US" sz="20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419F7F-AE91-778E-AEE7-DFA9EAF6CF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80" t="2940" r="11865" b="45727"/>
          <a:stretch>
            <a:fillRect/>
          </a:stretch>
        </p:blipFill>
        <p:spPr>
          <a:xfrm>
            <a:off x="426666" y="2662758"/>
            <a:ext cx="4407874" cy="2443532"/>
          </a:xfrm>
          <a:prstGeom prst="roundRect">
            <a:avLst>
              <a:gd name="adj" fmla="val 2489"/>
            </a:avLst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ADBF3CD-A001-3148-3FD0-CE0EF2E33A61}"/>
              </a:ext>
            </a:extLst>
          </p:cNvPr>
          <p:cNvSpPr txBox="1"/>
          <p:nvPr/>
        </p:nvSpPr>
        <p:spPr>
          <a:xfrm>
            <a:off x="18157023" y="-4016167"/>
            <a:ext cx="1570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ClinicalTrials.gov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98B12B-7B8C-0181-7F85-03EDBC8CFA76}"/>
              </a:ext>
            </a:extLst>
          </p:cNvPr>
          <p:cNvSpPr txBox="1"/>
          <p:nvPr/>
        </p:nvSpPr>
        <p:spPr>
          <a:xfrm>
            <a:off x="20499239" y="-1973548"/>
            <a:ext cx="157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NCT07668882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B82E29-4277-3E44-76BD-87F5C3BB632B}"/>
              </a:ext>
            </a:extLst>
          </p:cNvPr>
          <p:cNvSpPr txBox="1"/>
          <p:nvPr/>
        </p:nvSpPr>
        <p:spPr>
          <a:xfrm>
            <a:off x="22365167" y="-4008466"/>
            <a:ext cx="1884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OSF Preregistration</a:t>
            </a:r>
          </a:p>
        </p:txBody>
      </p:sp>
      <p:sp>
        <p:nvSpPr>
          <p:cNvPr id="33" name="Google Shape;78;p14">
            <a:extLst>
              <a:ext uri="{FF2B5EF4-FFF2-40B4-BE49-F238E27FC236}">
                <a16:creationId xmlns:a16="http://schemas.microsoft.com/office/drawing/2014/main" id="{F197EEFC-0960-7A6A-CE13-21AAAFC71D10}"/>
              </a:ext>
            </a:extLst>
          </p:cNvPr>
          <p:cNvSpPr txBox="1"/>
          <p:nvPr/>
        </p:nvSpPr>
        <p:spPr>
          <a:xfrm>
            <a:off x="3779155" y="2965731"/>
            <a:ext cx="1478700" cy="6144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 err="1">
                <a:solidFill>
                  <a:prstClr val="black"/>
                </a:solidFill>
              </a:rPr>
              <a:t>BrainSight</a:t>
            </a:r>
            <a:r>
              <a:rPr lang="en-US" sz="14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</a:rPr>
              <a:t>Neuronavigation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37" name="Google Shape;78;p14">
            <a:extLst>
              <a:ext uri="{FF2B5EF4-FFF2-40B4-BE49-F238E27FC236}">
                <a16:creationId xmlns:a16="http://schemas.microsoft.com/office/drawing/2014/main" id="{D6625C78-1DF7-DB66-C534-BC718BC6B50E}"/>
              </a:ext>
            </a:extLst>
          </p:cNvPr>
          <p:cNvSpPr txBox="1"/>
          <p:nvPr/>
        </p:nvSpPr>
        <p:spPr>
          <a:xfrm>
            <a:off x="426665" y="5268266"/>
            <a:ext cx="4407874" cy="980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</a:rPr>
              <a:t>LIFU Stimulation: </a:t>
            </a:r>
            <a:r>
              <a:rPr lang="en-US" sz="1400" dirty="0" err="1">
                <a:solidFill>
                  <a:prstClr val="black"/>
                </a:solidFill>
              </a:rPr>
              <a:t>BrainSonix</a:t>
            </a:r>
            <a:r>
              <a:rPr lang="en-US" sz="1400" dirty="0">
                <a:solidFill>
                  <a:prstClr val="black"/>
                </a:solidFill>
              </a:rPr>
              <a:t> transducer/</a:t>
            </a:r>
            <a:r>
              <a:rPr lang="en-US" sz="1400" dirty="0" err="1">
                <a:solidFill>
                  <a:prstClr val="black"/>
                </a:solidFill>
              </a:rPr>
              <a:t>BXPulser</a:t>
            </a:r>
            <a:r>
              <a:rPr lang="en-US" sz="1400" dirty="0">
                <a:solidFill>
                  <a:prstClr val="black"/>
                </a:solidFill>
              </a:rPr>
              <a:t> 1002; 650 kHz, 10 Hz PRF, 100 ms pulses, 70% duty cycle, 12 blocks of 30 s ON / 30 s OFF stimulation, targeted to the left VIM.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5183ADB-A549-F84E-B110-C8B5F5260FBE}"/>
              </a:ext>
            </a:extLst>
          </p:cNvPr>
          <p:cNvGrpSpPr/>
          <p:nvPr/>
        </p:nvGrpSpPr>
        <p:grpSpPr>
          <a:xfrm>
            <a:off x="227074" y="510370"/>
            <a:ext cx="8045088" cy="1920259"/>
            <a:chOff x="2094737" y="509123"/>
            <a:chExt cx="8045088" cy="192025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0EFD16C-98BD-C77E-96B4-E8546B0F1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63020" b="13185"/>
            <a:stretch>
              <a:fillRect/>
            </a:stretch>
          </p:blipFill>
          <p:spPr>
            <a:xfrm>
              <a:off x="2094737" y="509123"/>
              <a:ext cx="8045088" cy="1914359"/>
            </a:xfrm>
            <a:prstGeom prst="rect">
              <a:avLst/>
            </a:prstGeom>
          </p:spPr>
        </p:pic>
        <p:sp>
          <p:nvSpPr>
            <p:cNvPr id="39" name="Google Shape;78;p14">
              <a:extLst>
                <a:ext uri="{FF2B5EF4-FFF2-40B4-BE49-F238E27FC236}">
                  <a16:creationId xmlns:a16="http://schemas.microsoft.com/office/drawing/2014/main" id="{D248A842-E74C-9438-BB4F-E1F7DBA85A54}"/>
                </a:ext>
              </a:extLst>
            </p:cNvPr>
            <p:cNvSpPr txBox="1"/>
            <p:nvPr/>
          </p:nvSpPr>
          <p:spPr>
            <a:xfrm>
              <a:off x="4498266" y="2067188"/>
              <a:ext cx="1002467" cy="356294"/>
            </a:xfrm>
            <a:prstGeom prst="rect">
              <a:avLst/>
            </a:prstGeom>
            <a:solidFill>
              <a:srgbClr val="D7EDEA"/>
            </a:solidFill>
            <a:ln>
              <a:solidFill>
                <a:srgbClr val="A0D4C6"/>
              </a:solidFill>
            </a:ln>
          </p:spPr>
          <p:txBody>
            <a:bodyPr spcFirstLastPara="1" wrap="square" lIns="63046" tIns="63046" rIns="63046" bIns="63046" anchor="t" anchorCtr="0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</a:rPr>
                <a:t>Neural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41" name="Google Shape;78;p14">
              <a:extLst>
                <a:ext uri="{FF2B5EF4-FFF2-40B4-BE49-F238E27FC236}">
                  <a16:creationId xmlns:a16="http://schemas.microsoft.com/office/drawing/2014/main" id="{BA05FCA8-111B-291C-47D0-2698C05889CD}"/>
                </a:ext>
              </a:extLst>
            </p:cNvPr>
            <p:cNvSpPr txBox="1"/>
            <p:nvPr/>
          </p:nvSpPr>
          <p:spPr>
            <a:xfrm>
              <a:off x="3380484" y="2059995"/>
              <a:ext cx="1002467" cy="356294"/>
            </a:xfrm>
            <a:prstGeom prst="rect">
              <a:avLst/>
            </a:prstGeom>
            <a:solidFill>
              <a:srgbClr val="D3E9FB"/>
            </a:solidFill>
            <a:ln>
              <a:solidFill>
                <a:srgbClr val="8BBAE8"/>
              </a:solidFill>
            </a:ln>
          </p:spPr>
          <p:txBody>
            <a:bodyPr spcFirstLastPara="1" wrap="square" lIns="63046" tIns="63046" rIns="63046" bIns="63046" anchor="t" anchorCtr="0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</a:rPr>
                <a:t>Behavioral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43" name="Google Shape;78;p14">
              <a:extLst>
                <a:ext uri="{FF2B5EF4-FFF2-40B4-BE49-F238E27FC236}">
                  <a16:creationId xmlns:a16="http://schemas.microsoft.com/office/drawing/2014/main" id="{30340950-0059-88CD-9C16-C24D28AD9590}"/>
                </a:ext>
              </a:extLst>
            </p:cNvPr>
            <p:cNvSpPr txBox="1"/>
            <p:nvPr/>
          </p:nvSpPr>
          <p:spPr>
            <a:xfrm>
              <a:off x="2262702" y="2073088"/>
              <a:ext cx="1002467" cy="356294"/>
            </a:xfrm>
            <a:prstGeom prst="rect">
              <a:avLst/>
            </a:prstGeom>
            <a:solidFill>
              <a:srgbClr val="F4E7F9"/>
            </a:solidFill>
            <a:ln>
              <a:solidFill>
                <a:srgbClr val="BD88D4"/>
              </a:solidFill>
            </a:ln>
          </p:spPr>
          <p:txBody>
            <a:bodyPr spcFirstLastPara="1" wrap="square" lIns="63046" tIns="63046" rIns="63046" bIns="63046" anchor="t" anchorCtr="0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</a:rPr>
                <a:t>Speech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45" name="Google Shape;78;p14">
              <a:extLst>
                <a:ext uri="{FF2B5EF4-FFF2-40B4-BE49-F238E27FC236}">
                  <a16:creationId xmlns:a16="http://schemas.microsoft.com/office/drawing/2014/main" id="{D2EED82C-50EB-B48C-BCBD-1F8275006996}"/>
                </a:ext>
              </a:extLst>
            </p:cNvPr>
            <p:cNvSpPr txBox="1"/>
            <p:nvPr/>
          </p:nvSpPr>
          <p:spPr>
            <a:xfrm>
              <a:off x="5616048" y="2059995"/>
              <a:ext cx="1002467" cy="356294"/>
            </a:xfrm>
            <a:prstGeom prst="rect">
              <a:avLst/>
            </a:prstGeom>
            <a:solidFill>
              <a:srgbClr val="FEF0DF"/>
            </a:solidFill>
            <a:ln>
              <a:solidFill>
                <a:srgbClr val="F9B347"/>
              </a:solidFill>
            </a:ln>
          </p:spPr>
          <p:txBody>
            <a:bodyPr spcFirstLastPara="1" wrap="square" lIns="63046" tIns="63046" rIns="63046" bIns="63046" anchor="t" anchorCtr="0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</a:rPr>
                <a:t>LIFU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47" name="Google Shape;78;p14">
              <a:extLst>
                <a:ext uri="{FF2B5EF4-FFF2-40B4-BE49-F238E27FC236}">
                  <a16:creationId xmlns:a16="http://schemas.microsoft.com/office/drawing/2014/main" id="{9370BED3-5C9B-3BE8-A2D5-B3930E1B2DA3}"/>
                </a:ext>
              </a:extLst>
            </p:cNvPr>
            <p:cNvSpPr txBox="1"/>
            <p:nvPr/>
          </p:nvSpPr>
          <p:spPr>
            <a:xfrm>
              <a:off x="6733830" y="2063658"/>
              <a:ext cx="1002467" cy="356294"/>
            </a:xfrm>
            <a:prstGeom prst="rect">
              <a:avLst/>
            </a:prstGeom>
            <a:solidFill>
              <a:srgbClr val="D7EDEA"/>
            </a:solidFill>
            <a:ln>
              <a:solidFill>
                <a:srgbClr val="A0D4C6"/>
              </a:solidFill>
            </a:ln>
          </p:spPr>
          <p:txBody>
            <a:bodyPr spcFirstLastPara="1" wrap="square" lIns="63046" tIns="63046" rIns="63046" bIns="63046" anchor="t" anchorCtr="0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</a:rPr>
                <a:t>Neural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49" name="Google Shape;78;p14">
              <a:extLst>
                <a:ext uri="{FF2B5EF4-FFF2-40B4-BE49-F238E27FC236}">
                  <a16:creationId xmlns:a16="http://schemas.microsoft.com/office/drawing/2014/main" id="{F3531D5A-76EE-6413-7826-07228BA57E35}"/>
                </a:ext>
              </a:extLst>
            </p:cNvPr>
            <p:cNvSpPr txBox="1"/>
            <p:nvPr/>
          </p:nvSpPr>
          <p:spPr>
            <a:xfrm>
              <a:off x="7851612" y="2067188"/>
              <a:ext cx="1002467" cy="356294"/>
            </a:xfrm>
            <a:prstGeom prst="rect">
              <a:avLst/>
            </a:prstGeom>
            <a:solidFill>
              <a:srgbClr val="D3E9FB"/>
            </a:solidFill>
            <a:ln>
              <a:solidFill>
                <a:srgbClr val="8BBAE8"/>
              </a:solidFill>
            </a:ln>
          </p:spPr>
          <p:txBody>
            <a:bodyPr spcFirstLastPara="1" wrap="square" lIns="63046" tIns="63046" rIns="63046" bIns="63046" anchor="t" anchorCtr="0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</a:rPr>
                <a:t>Behavioral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51" name="Google Shape;78;p14">
              <a:extLst>
                <a:ext uri="{FF2B5EF4-FFF2-40B4-BE49-F238E27FC236}">
                  <a16:creationId xmlns:a16="http://schemas.microsoft.com/office/drawing/2014/main" id="{ED27CF98-F8D5-0EC7-565F-E0CF8CBC314E}"/>
                </a:ext>
              </a:extLst>
            </p:cNvPr>
            <p:cNvSpPr txBox="1"/>
            <p:nvPr/>
          </p:nvSpPr>
          <p:spPr>
            <a:xfrm>
              <a:off x="8969394" y="2059995"/>
              <a:ext cx="1002467" cy="356294"/>
            </a:xfrm>
            <a:prstGeom prst="rect">
              <a:avLst/>
            </a:prstGeom>
            <a:solidFill>
              <a:srgbClr val="F4E7F9"/>
            </a:solidFill>
            <a:ln>
              <a:solidFill>
                <a:srgbClr val="BD88D4"/>
              </a:solidFill>
            </a:ln>
          </p:spPr>
          <p:txBody>
            <a:bodyPr spcFirstLastPara="1" wrap="square" lIns="63046" tIns="63046" rIns="63046" bIns="63046" anchor="t" anchorCtr="0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</a:rPr>
                <a:t>Speech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</p:grpSp>
      <p:sp>
        <p:nvSpPr>
          <p:cNvPr id="54" name="Google Shape;78;p14">
            <a:extLst>
              <a:ext uri="{FF2B5EF4-FFF2-40B4-BE49-F238E27FC236}">
                <a16:creationId xmlns:a16="http://schemas.microsoft.com/office/drawing/2014/main" id="{604CB79B-A67D-0C31-24D9-CBBBECA5FE23}"/>
              </a:ext>
            </a:extLst>
          </p:cNvPr>
          <p:cNvSpPr txBox="1"/>
          <p:nvPr/>
        </p:nvSpPr>
        <p:spPr>
          <a:xfrm>
            <a:off x="5584624" y="2806832"/>
            <a:ext cx="1002467" cy="356294"/>
          </a:xfrm>
          <a:prstGeom prst="rect">
            <a:avLst/>
          </a:prstGeom>
          <a:solidFill>
            <a:srgbClr val="D7EDEA"/>
          </a:solidFill>
          <a:ln>
            <a:solidFill>
              <a:srgbClr val="A0D4C6"/>
            </a:solidFill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</a:rPr>
              <a:t>Neural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56" name="Google Shape;78;p14">
            <a:extLst>
              <a:ext uri="{FF2B5EF4-FFF2-40B4-BE49-F238E27FC236}">
                <a16:creationId xmlns:a16="http://schemas.microsoft.com/office/drawing/2014/main" id="{CDBAEF27-3404-9CD7-E067-3DD119B35E78}"/>
              </a:ext>
            </a:extLst>
          </p:cNvPr>
          <p:cNvSpPr txBox="1"/>
          <p:nvPr/>
        </p:nvSpPr>
        <p:spPr>
          <a:xfrm>
            <a:off x="5594766" y="3864393"/>
            <a:ext cx="1002467" cy="356294"/>
          </a:xfrm>
          <a:prstGeom prst="rect">
            <a:avLst/>
          </a:prstGeom>
          <a:solidFill>
            <a:srgbClr val="D3E9FB"/>
          </a:solidFill>
          <a:ln>
            <a:solidFill>
              <a:srgbClr val="8BBAE8"/>
            </a:solidFill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</a:rPr>
              <a:t>Behavioral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58" name="Google Shape;78;p14">
            <a:extLst>
              <a:ext uri="{FF2B5EF4-FFF2-40B4-BE49-F238E27FC236}">
                <a16:creationId xmlns:a16="http://schemas.microsoft.com/office/drawing/2014/main" id="{9EA69238-36DF-6CF4-58A5-A6832150C723}"/>
              </a:ext>
            </a:extLst>
          </p:cNvPr>
          <p:cNvSpPr txBox="1"/>
          <p:nvPr/>
        </p:nvSpPr>
        <p:spPr>
          <a:xfrm>
            <a:off x="5584623" y="4864804"/>
            <a:ext cx="1002467" cy="356294"/>
          </a:xfrm>
          <a:prstGeom prst="rect">
            <a:avLst/>
          </a:prstGeom>
          <a:solidFill>
            <a:srgbClr val="F4E7F9"/>
          </a:solidFill>
          <a:ln>
            <a:solidFill>
              <a:srgbClr val="BD88D4"/>
            </a:solidFill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</a:rPr>
              <a:t>Speech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60" name="Graphic 59" descr="Left Brain with solid fill">
            <a:extLst>
              <a:ext uri="{FF2B5EF4-FFF2-40B4-BE49-F238E27FC236}">
                <a16:creationId xmlns:a16="http://schemas.microsoft.com/office/drawing/2014/main" id="{7B21EB9A-FF3A-413A-43E0-619C27E320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54176" y="2514600"/>
            <a:ext cx="914400" cy="914400"/>
          </a:xfrm>
          <a:prstGeom prst="rect">
            <a:avLst/>
          </a:prstGeom>
        </p:spPr>
      </p:pic>
      <p:pic>
        <p:nvPicPr>
          <p:cNvPr id="62" name="Graphic 61" descr="Left Brain outline">
            <a:extLst>
              <a:ext uri="{FF2B5EF4-FFF2-40B4-BE49-F238E27FC236}">
                <a16:creationId xmlns:a16="http://schemas.microsoft.com/office/drawing/2014/main" id="{8C465522-D94A-E59C-E374-8BB1E0010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5854" y="2514600"/>
            <a:ext cx="914400" cy="914400"/>
          </a:xfrm>
          <a:prstGeom prst="rect">
            <a:avLst/>
          </a:prstGeom>
        </p:spPr>
      </p:pic>
      <p:sp>
        <p:nvSpPr>
          <p:cNvPr id="64" name="Google Shape;78;p14">
            <a:extLst>
              <a:ext uri="{FF2B5EF4-FFF2-40B4-BE49-F238E27FC236}">
                <a16:creationId xmlns:a16="http://schemas.microsoft.com/office/drawing/2014/main" id="{E306AF2F-B86A-927A-5A2E-346560EA2002}"/>
              </a:ext>
            </a:extLst>
          </p:cNvPr>
          <p:cNvSpPr txBox="1"/>
          <p:nvPr/>
        </p:nvSpPr>
        <p:spPr>
          <a:xfrm>
            <a:off x="7880254" y="2817653"/>
            <a:ext cx="1002467" cy="356294"/>
          </a:xfrm>
          <a:prstGeom prst="rect">
            <a:avLst/>
          </a:prstGeom>
          <a:solidFill>
            <a:srgbClr val="D7EDEA"/>
          </a:solidFill>
          <a:ln>
            <a:solidFill>
              <a:srgbClr val="A0D4C6"/>
            </a:solidFill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 err="1">
                <a:solidFill>
                  <a:prstClr val="black"/>
                </a:solidFill>
              </a:rPr>
              <a:t>rsfMRI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66" name="Google Shape;78;p14">
            <a:extLst>
              <a:ext uri="{FF2B5EF4-FFF2-40B4-BE49-F238E27FC236}">
                <a16:creationId xmlns:a16="http://schemas.microsoft.com/office/drawing/2014/main" id="{353D7B42-14EC-ACB8-4DF5-1A48BCA7146C}"/>
              </a:ext>
            </a:extLst>
          </p:cNvPr>
          <p:cNvSpPr txBox="1"/>
          <p:nvPr/>
        </p:nvSpPr>
        <p:spPr>
          <a:xfrm>
            <a:off x="10211519" y="2817653"/>
            <a:ext cx="1393862" cy="356294"/>
          </a:xfrm>
          <a:prstGeom prst="rect">
            <a:avLst/>
          </a:prstGeom>
          <a:solidFill>
            <a:srgbClr val="D7EDEA"/>
          </a:solidFill>
          <a:ln>
            <a:solidFill>
              <a:srgbClr val="A0D4C6"/>
            </a:solidFill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</a:rPr>
              <a:t>Task fMRI (SST)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C0E4E765-7C7F-16A2-5BD5-29528391B8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3646" y="3641872"/>
            <a:ext cx="752003" cy="75200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3B9C6672-3BC4-8252-A0AC-2ABD5067D20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2992" t="3839" r="33440" b="6129"/>
          <a:stretch>
            <a:fillRect/>
          </a:stretch>
        </p:blipFill>
        <p:spPr>
          <a:xfrm>
            <a:off x="9234042" y="3641872"/>
            <a:ext cx="747697" cy="752003"/>
          </a:xfrm>
          <a:prstGeom prst="rect">
            <a:avLst/>
          </a:prstGeom>
        </p:spPr>
      </p:pic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2CC47E6B-BCCE-85DA-454A-E64734D38DAC}"/>
              </a:ext>
            </a:extLst>
          </p:cNvPr>
          <p:cNvSpPr txBox="1"/>
          <p:nvPr/>
        </p:nvSpPr>
        <p:spPr>
          <a:xfrm>
            <a:off x="10401984" y="3622165"/>
            <a:ext cx="1002467" cy="752002"/>
          </a:xfrm>
          <a:prstGeom prst="rect">
            <a:avLst/>
          </a:prstGeom>
          <a:solidFill>
            <a:srgbClr val="D3E9FB"/>
          </a:solidFill>
          <a:ln>
            <a:solidFill>
              <a:srgbClr val="8BBAE8"/>
            </a:solidFill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</a:rPr>
              <a:t>Stop Signal Task (SST)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80" name="Google Shape;78;p14">
            <a:extLst>
              <a:ext uri="{FF2B5EF4-FFF2-40B4-BE49-F238E27FC236}">
                <a16:creationId xmlns:a16="http://schemas.microsoft.com/office/drawing/2014/main" id="{35224BEA-3425-1C21-AC4B-3D40362FE55C}"/>
              </a:ext>
            </a:extLst>
          </p:cNvPr>
          <p:cNvSpPr txBox="1"/>
          <p:nvPr/>
        </p:nvSpPr>
        <p:spPr>
          <a:xfrm>
            <a:off x="7850764" y="3622165"/>
            <a:ext cx="1083256" cy="752002"/>
          </a:xfrm>
          <a:prstGeom prst="rect">
            <a:avLst/>
          </a:prstGeom>
          <a:solidFill>
            <a:srgbClr val="D3E9FB"/>
          </a:solidFill>
          <a:ln>
            <a:solidFill>
              <a:srgbClr val="8BBAE8"/>
            </a:solidFill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</a:rPr>
              <a:t>Beat-Based Advantage (BBA)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307CBFDE-3534-30AE-6118-0F7DCF0D2D3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6404" t="6695" r="1446" b="9569"/>
          <a:stretch>
            <a:fillRect/>
          </a:stretch>
        </p:blipFill>
        <p:spPr>
          <a:xfrm>
            <a:off x="7033646" y="4706107"/>
            <a:ext cx="769958" cy="752002"/>
          </a:xfrm>
          <a:prstGeom prst="rect">
            <a:avLst/>
          </a:prstGeom>
        </p:spPr>
      </p:pic>
      <p:sp>
        <p:nvSpPr>
          <p:cNvPr id="84" name="Google Shape;78;p14">
            <a:extLst>
              <a:ext uri="{FF2B5EF4-FFF2-40B4-BE49-F238E27FC236}">
                <a16:creationId xmlns:a16="http://schemas.microsoft.com/office/drawing/2014/main" id="{9D7C40E5-86AD-1BB0-C308-8FB4C3318FB3}"/>
              </a:ext>
            </a:extLst>
          </p:cNvPr>
          <p:cNvSpPr txBox="1"/>
          <p:nvPr/>
        </p:nvSpPr>
        <p:spPr>
          <a:xfrm>
            <a:off x="7880253" y="4864804"/>
            <a:ext cx="3152837" cy="356294"/>
          </a:xfrm>
          <a:prstGeom prst="rect">
            <a:avLst/>
          </a:prstGeom>
          <a:solidFill>
            <a:srgbClr val="F4E7F9"/>
          </a:solidFill>
          <a:ln>
            <a:solidFill>
              <a:srgbClr val="BD88D4"/>
            </a:solidFill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</a:rPr>
              <a:t>% Stuttered Syllables in Speech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DE1E239-49E2-CB32-8FD3-2B92DA0BD005}"/>
              </a:ext>
            </a:extLst>
          </p:cNvPr>
          <p:cNvSpPr txBox="1"/>
          <p:nvPr/>
        </p:nvSpPr>
        <p:spPr>
          <a:xfrm>
            <a:off x="7309686" y="4398330"/>
            <a:ext cx="1796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Speech motor timing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1A639A-CC9B-95A8-E622-5D2BB275C10D}"/>
              </a:ext>
            </a:extLst>
          </p:cNvPr>
          <p:cNvSpPr txBox="1"/>
          <p:nvPr/>
        </p:nvSpPr>
        <p:spPr>
          <a:xfrm>
            <a:off x="9614154" y="4398330"/>
            <a:ext cx="1721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Response inhibition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0F91170-52A7-6158-FFC7-13C24765DDBD}"/>
              </a:ext>
            </a:extLst>
          </p:cNvPr>
          <p:cNvSpPr txBox="1"/>
          <p:nvPr/>
        </p:nvSpPr>
        <p:spPr>
          <a:xfrm>
            <a:off x="7033646" y="3200571"/>
            <a:ext cx="1999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Functional connectivity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81B0E06-EC09-D865-20BA-A7FD4AF3AE19}"/>
              </a:ext>
            </a:extLst>
          </p:cNvPr>
          <p:cNvSpPr txBox="1"/>
          <p:nvPr/>
        </p:nvSpPr>
        <p:spPr>
          <a:xfrm>
            <a:off x="9261045" y="3218763"/>
            <a:ext cx="28921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Functional connectivity during task</a:t>
            </a:r>
          </a:p>
        </p:txBody>
      </p:sp>
    </p:spTree>
    <p:extLst>
      <p:ext uri="{BB962C8B-B14F-4D97-AF65-F5344CB8AC3E}">
        <p14:creationId xmlns:p14="http://schemas.microsoft.com/office/powerpoint/2010/main" val="26790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  <p:bldP spid="58" grpId="0" animBg="1"/>
      <p:bldP spid="64" grpId="0" animBg="1"/>
      <p:bldP spid="66" grpId="0" animBg="1"/>
      <p:bldP spid="78" grpId="0" animBg="1"/>
      <p:bldP spid="80" grpId="0" animBg="1"/>
      <p:bldP spid="84" grpId="0" animBg="1"/>
      <p:bldP spid="85" grpId="0"/>
      <p:bldP spid="87" grpId="0"/>
      <p:bldP spid="91" grpId="0"/>
      <p:bldP spid="9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C757-4A94-0DE1-5461-ED7764E83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F2DE90DB-9C37-C877-001E-67E8149975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0063" y="717966"/>
            <a:ext cx="3381972" cy="46798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DF7637-D937-48EC-0E26-B12F7F3D75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8272162" y="5361185"/>
            <a:ext cx="3919838" cy="14944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940B800-9920-65F5-D963-FCAD833F37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7739" y="6038821"/>
            <a:ext cx="1166555" cy="422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AFC4AD-5A67-F8B1-AB3A-66EB4747F89A}"/>
              </a:ext>
            </a:extLst>
          </p:cNvPr>
          <p:cNvSpPr txBox="1"/>
          <p:nvPr/>
        </p:nvSpPr>
        <p:spPr>
          <a:xfrm>
            <a:off x="235068" y="146975"/>
            <a:ext cx="9538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Preliminary behavioral and neural effects of VIM-LIFU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2663A1-77AD-7188-A95D-E8D33E46A94E}"/>
              </a:ext>
            </a:extLst>
          </p:cNvPr>
          <p:cNvGrpSpPr/>
          <p:nvPr/>
        </p:nvGrpSpPr>
        <p:grpSpPr>
          <a:xfrm>
            <a:off x="103845" y="4141901"/>
            <a:ext cx="5999446" cy="2519665"/>
            <a:chOff x="103845" y="4141901"/>
            <a:chExt cx="5999446" cy="251966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7BBCAC1-2310-6BF6-10F9-EC482A1E8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13199" b="49407"/>
            <a:stretch>
              <a:fillRect/>
            </a:stretch>
          </p:blipFill>
          <p:spPr>
            <a:xfrm>
              <a:off x="239926" y="4832842"/>
              <a:ext cx="5863365" cy="1828724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20D3A36-AFA4-B6CD-379F-5743E0A67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845" y="4141901"/>
              <a:ext cx="752003" cy="752003"/>
            </a:xfrm>
            <a:prstGeom prst="rect">
              <a:avLst/>
            </a:prstGeom>
          </p:spPr>
        </p:pic>
        <p:sp>
          <p:nvSpPr>
            <p:cNvPr id="35" name="Google Shape;78;p14">
              <a:extLst>
                <a:ext uri="{FF2B5EF4-FFF2-40B4-BE49-F238E27FC236}">
                  <a16:creationId xmlns:a16="http://schemas.microsoft.com/office/drawing/2014/main" id="{1C4D8684-CBDA-DFE1-B90A-501410124694}"/>
                </a:ext>
              </a:extLst>
            </p:cNvPr>
            <p:cNvSpPr txBox="1"/>
            <p:nvPr/>
          </p:nvSpPr>
          <p:spPr>
            <a:xfrm>
              <a:off x="957592" y="4431360"/>
              <a:ext cx="2971023" cy="345935"/>
            </a:xfrm>
            <a:prstGeom prst="rect">
              <a:avLst/>
            </a:prstGeom>
            <a:solidFill>
              <a:srgbClr val="D3E9FB"/>
            </a:solidFill>
            <a:ln>
              <a:solidFill>
                <a:srgbClr val="8BBAE8"/>
              </a:solidFill>
            </a:ln>
          </p:spPr>
          <p:txBody>
            <a:bodyPr spcFirstLastPara="1" wrap="square" lIns="63046" tIns="63046" rIns="63046" bIns="63046" anchor="t" anchorCtr="0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</a:rPr>
                <a:t>Beat-Based Advantage (BBA)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7655771-8418-ADB0-C275-356BEAC7DD3D}"/>
                </a:ext>
              </a:extLst>
            </p:cNvPr>
            <p:cNvSpPr txBox="1"/>
            <p:nvPr/>
          </p:nvSpPr>
          <p:spPr>
            <a:xfrm>
              <a:off x="4176148" y="4476447"/>
              <a:ext cx="17963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Speech motor timing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122F06B-BF4A-7472-801A-89866FE22588}"/>
              </a:ext>
            </a:extLst>
          </p:cNvPr>
          <p:cNvGrpSpPr/>
          <p:nvPr/>
        </p:nvGrpSpPr>
        <p:grpSpPr>
          <a:xfrm>
            <a:off x="71277" y="690845"/>
            <a:ext cx="6002929" cy="3307789"/>
            <a:chOff x="71277" y="690845"/>
            <a:chExt cx="6002929" cy="330778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95ECD6C-8065-51B6-DA05-E3681DAD6BF6}"/>
                </a:ext>
              </a:extLst>
            </p:cNvPr>
            <p:cNvGrpSpPr/>
            <p:nvPr/>
          </p:nvGrpSpPr>
          <p:grpSpPr>
            <a:xfrm>
              <a:off x="71277" y="1199994"/>
              <a:ext cx="6002929" cy="2798640"/>
              <a:chOff x="364922" y="20409451"/>
              <a:chExt cx="12107606" cy="4751809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A73EC0E-D95D-254F-2092-E6F4D32B09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93890"/>
              <a:stretch>
                <a:fillRect/>
              </a:stretch>
            </p:blipFill>
            <p:spPr>
              <a:xfrm>
                <a:off x="364924" y="24104177"/>
                <a:ext cx="9479793" cy="482675"/>
              </a:xfrm>
              <a:prstGeom prst="rect">
                <a:avLst/>
              </a:prstGeom>
            </p:spPr>
          </p:pic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BA604E24-58F1-3671-F23D-928028FA10A4}"/>
                  </a:ext>
                </a:extLst>
              </p:cNvPr>
              <p:cNvGrpSpPr/>
              <p:nvPr/>
            </p:nvGrpSpPr>
            <p:grpSpPr>
              <a:xfrm>
                <a:off x="364922" y="20409451"/>
                <a:ext cx="12107606" cy="4751809"/>
                <a:chOff x="364922" y="20409451"/>
                <a:chExt cx="12107606" cy="4751809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0A064790-307B-0364-3683-1EA17EF560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rcRect t="4829" b="52234"/>
                <a:stretch>
                  <a:fillRect/>
                </a:stretch>
              </p:blipFill>
              <p:spPr>
                <a:xfrm>
                  <a:off x="364922" y="20829034"/>
                  <a:ext cx="12107606" cy="4332226"/>
                </a:xfrm>
                <a:prstGeom prst="rect">
                  <a:avLst/>
                </a:prstGeom>
              </p:spPr>
            </p:pic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861552F2-62FC-5B37-4EBF-C91C6A8E887F}"/>
                    </a:ext>
                  </a:extLst>
                </p:cNvPr>
                <p:cNvSpPr/>
                <p:nvPr/>
              </p:nvSpPr>
              <p:spPr>
                <a:xfrm>
                  <a:off x="3303640" y="20409451"/>
                  <a:ext cx="6541077" cy="4826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3C1CD04-5F4C-139D-8A9F-D84D2FD72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2992" t="3839" r="33440" b="6129"/>
            <a:stretch>
              <a:fillRect/>
            </a:stretch>
          </p:blipFill>
          <p:spPr>
            <a:xfrm>
              <a:off x="108151" y="690845"/>
              <a:ext cx="747697" cy="752003"/>
            </a:xfrm>
            <a:prstGeom prst="rect">
              <a:avLst/>
            </a:prstGeom>
          </p:spPr>
        </p:pic>
        <p:sp>
          <p:nvSpPr>
            <p:cNvPr id="34" name="Google Shape;78;p14">
              <a:extLst>
                <a:ext uri="{FF2B5EF4-FFF2-40B4-BE49-F238E27FC236}">
                  <a16:creationId xmlns:a16="http://schemas.microsoft.com/office/drawing/2014/main" id="{1A7D229C-8242-4FBD-953A-A7DE76FEF003}"/>
                </a:ext>
              </a:extLst>
            </p:cNvPr>
            <p:cNvSpPr txBox="1"/>
            <p:nvPr/>
          </p:nvSpPr>
          <p:spPr>
            <a:xfrm>
              <a:off x="825972" y="700434"/>
              <a:ext cx="3102643" cy="313953"/>
            </a:xfrm>
            <a:prstGeom prst="rect">
              <a:avLst/>
            </a:prstGeom>
            <a:solidFill>
              <a:srgbClr val="D3E9FB"/>
            </a:solidFill>
            <a:ln>
              <a:solidFill>
                <a:srgbClr val="8BBAE8"/>
              </a:solidFill>
            </a:ln>
          </p:spPr>
          <p:txBody>
            <a:bodyPr spcFirstLastPara="1" wrap="square" lIns="63046" tIns="63046" rIns="63046" bIns="63046" anchor="t" anchorCtr="0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</a:rPr>
                <a:t>Stop Signal Task (SST)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3EFA3A-3032-DBD8-E1A2-D9EFD35CC105}"/>
                </a:ext>
              </a:extLst>
            </p:cNvPr>
            <p:cNvSpPr txBox="1"/>
            <p:nvPr/>
          </p:nvSpPr>
          <p:spPr>
            <a:xfrm>
              <a:off x="4213370" y="717966"/>
              <a:ext cx="17219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Response inhibition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5097A95-249F-312D-10D9-9AF186437422}"/>
              </a:ext>
            </a:extLst>
          </p:cNvPr>
          <p:cNvGrpSpPr/>
          <p:nvPr/>
        </p:nvGrpSpPr>
        <p:grpSpPr>
          <a:xfrm>
            <a:off x="6397292" y="5439263"/>
            <a:ext cx="1999971" cy="1089014"/>
            <a:chOff x="6932191" y="2472054"/>
            <a:chExt cx="1999971" cy="1089014"/>
          </a:xfrm>
        </p:grpSpPr>
        <p:pic>
          <p:nvPicPr>
            <p:cNvPr id="42" name="Graphic 41" descr="Left Brain outline">
              <a:extLst>
                <a:ext uri="{FF2B5EF4-FFF2-40B4-BE49-F238E27FC236}">
                  <a16:creationId xmlns:a16="http://schemas.microsoft.com/office/drawing/2014/main" id="{FEB97FF9-1AF0-68FB-E36E-86E0C2C125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65854" y="2472054"/>
              <a:ext cx="914400" cy="914400"/>
            </a:xfrm>
            <a:prstGeom prst="rect">
              <a:avLst/>
            </a:prstGeom>
          </p:spPr>
        </p:pic>
        <p:sp>
          <p:nvSpPr>
            <p:cNvPr id="43" name="Google Shape;78;p14">
              <a:extLst>
                <a:ext uri="{FF2B5EF4-FFF2-40B4-BE49-F238E27FC236}">
                  <a16:creationId xmlns:a16="http://schemas.microsoft.com/office/drawing/2014/main" id="{6EA85A92-3174-D4CA-7797-A5B9D29141EF}"/>
                </a:ext>
              </a:extLst>
            </p:cNvPr>
            <p:cNvSpPr txBox="1"/>
            <p:nvPr/>
          </p:nvSpPr>
          <p:spPr>
            <a:xfrm>
              <a:off x="7880254" y="2780374"/>
              <a:ext cx="1002467" cy="356294"/>
            </a:xfrm>
            <a:prstGeom prst="rect">
              <a:avLst/>
            </a:prstGeom>
            <a:solidFill>
              <a:srgbClr val="D7EDEA"/>
            </a:solidFill>
            <a:ln>
              <a:solidFill>
                <a:srgbClr val="A0D4C6"/>
              </a:solidFill>
            </a:ln>
          </p:spPr>
          <p:txBody>
            <a:bodyPr spcFirstLastPara="1" wrap="square" lIns="63046" tIns="63046" rIns="63046" bIns="63046" anchor="t" anchorCtr="0">
              <a:noAutofit/>
            </a:bodyPr>
            <a:lstStyle/>
            <a:p>
              <a:pPr algn="ctr"/>
              <a:r>
                <a:rPr lang="en-US" sz="1400" b="1" dirty="0" err="1">
                  <a:solidFill>
                    <a:prstClr val="black"/>
                  </a:solidFill>
                </a:rPr>
                <a:t>rsfMRI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7BD58A7-4FD4-32FA-F33F-0E0A3341439B}"/>
                </a:ext>
              </a:extLst>
            </p:cNvPr>
            <p:cNvSpPr txBox="1"/>
            <p:nvPr/>
          </p:nvSpPr>
          <p:spPr>
            <a:xfrm>
              <a:off x="6932191" y="3253291"/>
              <a:ext cx="1999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Functional connectivity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65BD1F1-2116-17EC-CF55-9534DC7034BC}"/>
              </a:ext>
            </a:extLst>
          </p:cNvPr>
          <p:cNvGrpSpPr/>
          <p:nvPr/>
        </p:nvGrpSpPr>
        <p:grpSpPr>
          <a:xfrm>
            <a:off x="6205886" y="549898"/>
            <a:ext cx="5744814" cy="4997392"/>
            <a:chOff x="9514226" y="811757"/>
            <a:chExt cx="5744814" cy="499739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A2D7FB1-3088-9AE6-D336-63A6B49A7147}"/>
                </a:ext>
              </a:extLst>
            </p:cNvPr>
            <p:cNvSpPr/>
            <p:nvPr/>
          </p:nvSpPr>
          <p:spPr>
            <a:xfrm>
              <a:off x="10554479" y="4661348"/>
              <a:ext cx="4479004" cy="6486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77D64AE-79C9-1585-8D69-EB67FFA4A4C6}"/>
                </a:ext>
              </a:extLst>
            </p:cNvPr>
            <p:cNvGrpSpPr/>
            <p:nvPr/>
          </p:nvGrpSpPr>
          <p:grpSpPr>
            <a:xfrm>
              <a:off x="9514226" y="811757"/>
              <a:ext cx="5744814" cy="4997392"/>
              <a:chOff x="6256686" y="559184"/>
              <a:chExt cx="5744814" cy="499739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43C097F-9DFE-9F82-45E8-0197B6D10EE0}"/>
                  </a:ext>
                </a:extLst>
              </p:cNvPr>
              <p:cNvSpPr/>
              <p:nvPr/>
            </p:nvSpPr>
            <p:spPr>
              <a:xfrm>
                <a:off x="9773727" y="4777295"/>
                <a:ext cx="2227773" cy="620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6BFEE0E-D5D0-48AE-F0C5-C0F31EF3E367}"/>
                  </a:ext>
                </a:extLst>
              </p:cNvPr>
              <p:cNvGrpSpPr/>
              <p:nvPr/>
            </p:nvGrpSpPr>
            <p:grpSpPr>
              <a:xfrm>
                <a:off x="6256686" y="559184"/>
                <a:ext cx="5623180" cy="4997392"/>
                <a:chOff x="9945835" y="26031112"/>
                <a:chExt cx="13075367" cy="8205526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12C0E951-A1EB-26FC-9D87-612FBB607F71}"/>
                    </a:ext>
                  </a:extLst>
                </p:cNvPr>
                <p:cNvGrpSpPr/>
                <p:nvPr/>
              </p:nvGrpSpPr>
              <p:grpSpPr>
                <a:xfrm>
                  <a:off x="9945835" y="26031112"/>
                  <a:ext cx="13075367" cy="8205526"/>
                  <a:chOff x="10270302" y="26119603"/>
                  <a:chExt cx="13075367" cy="8205526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BB94581E-86EF-80CC-EFD9-3726DE7D2AC2}"/>
                      </a:ext>
                    </a:extLst>
                  </p:cNvPr>
                  <p:cNvGrpSpPr/>
                  <p:nvPr/>
                </p:nvGrpSpPr>
                <p:grpSpPr>
                  <a:xfrm>
                    <a:off x="10270302" y="26119603"/>
                    <a:ext cx="13075367" cy="8205526"/>
                    <a:chOff x="10270302" y="26119603"/>
                    <a:chExt cx="13075367" cy="8205526"/>
                  </a:xfrm>
                </p:grpSpPr>
                <p:pic>
                  <p:nvPicPr>
                    <p:cNvPr id="28" name="Graphic 27">
                      <a:extLst>
                        <a:ext uri="{FF2B5EF4-FFF2-40B4-BE49-F238E27FC236}">
                          <a16:creationId xmlns:a16="http://schemas.microsoft.com/office/drawing/2014/main" id="{7713658F-CA76-8DF0-3C68-E12131D134B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rcRect l="22859" t="80253" r="22469" b="5865"/>
                    <a:stretch>
                      <a:fillRect/>
                    </a:stretch>
                  </p:blipFill>
                  <p:spPr>
                    <a:xfrm>
                      <a:off x="10270302" y="33018734"/>
                      <a:ext cx="9998566" cy="130639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" name="Graphic 28">
                      <a:extLst>
                        <a:ext uri="{FF2B5EF4-FFF2-40B4-BE49-F238E27FC236}">
                          <a16:creationId xmlns:a16="http://schemas.microsoft.com/office/drawing/2014/main" id="{205EA0A8-0E8F-8665-7B13-79727C466B5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2"/>
                        </a:ext>
                      </a:extLst>
                    </a:blip>
                    <a:srcRect l="3348" b="19826"/>
                    <a:stretch>
                      <a:fillRect/>
                    </a:stretch>
                  </p:blipFill>
                  <p:spPr>
                    <a:xfrm>
                      <a:off x="10670487" y="26119603"/>
                      <a:ext cx="12675182" cy="679223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0" name="Graphic 29">
                      <a:extLst>
                        <a:ext uri="{FF2B5EF4-FFF2-40B4-BE49-F238E27FC236}">
                          <a16:creationId xmlns:a16="http://schemas.microsoft.com/office/drawing/2014/main" id="{E14A8CD0-4500-48F7-0F4E-E60EF806CBC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rcRect l="37698" t="94958" r="37522" b="382"/>
                    <a:stretch>
                      <a:fillRect/>
                    </a:stretch>
                  </p:blipFill>
                  <p:spPr>
                    <a:xfrm>
                      <a:off x="18377378" y="32935015"/>
                      <a:ext cx="4531815" cy="438495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7" name="Graphic 26">
                    <a:extLst>
                      <a:ext uri="{FF2B5EF4-FFF2-40B4-BE49-F238E27FC236}">
                        <a16:creationId xmlns:a16="http://schemas.microsoft.com/office/drawing/2014/main" id="{FB007F5A-2703-72D7-4547-3A07C2B812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 l="38999" t="11930" r="34402" b="85637"/>
                  <a:stretch>
                    <a:fillRect/>
                  </a:stretch>
                </p:blipFill>
                <p:spPr>
                  <a:xfrm>
                    <a:off x="20219571" y="33662536"/>
                    <a:ext cx="2510291" cy="317844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4537BA1E-27FB-FEC9-0D1A-3A7726E62FFF}"/>
                    </a:ext>
                  </a:extLst>
                </p:cNvPr>
                <p:cNvSpPr/>
                <p:nvPr/>
              </p:nvSpPr>
              <p:spPr>
                <a:xfrm>
                  <a:off x="14707750" y="26596379"/>
                  <a:ext cx="2053390" cy="1863191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FFC2A63-1875-D97C-7087-202BF862BAAD}"/>
                    </a:ext>
                  </a:extLst>
                </p:cNvPr>
                <p:cNvSpPr/>
                <p:nvPr/>
              </p:nvSpPr>
              <p:spPr>
                <a:xfrm>
                  <a:off x="14707750" y="28717635"/>
                  <a:ext cx="2053390" cy="1963058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775F8EA-40CF-CE7C-2CC4-C14332537663}"/>
                    </a:ext>
                  </a:extLst>
                </p:cNvPr>
                <p:cNvSpPr/>
                <p:nvPr/>
              </p:nvSpPr>
              <p:spPr>
                <a:xfrm>
                  <a:off x="10595143" y="30837050"/>
                  <a:ext cx="2053390" cy="2051612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B0432B4-B05E-72E3-F1E3-1D2264DDEB89}"/>
              </a:ext>
            </a:extLst>
          </p:cNvPr>
          <p:cNvSpPr txBox="1"/>
          <p:nvPr/>
        </p:nvSpPr>
        <p:spPr>
          <a:xfrm>
            <a:off x="9844982" y="208530"/>
            <a:ext cx="2119944" cy="400110"/>
          </a:xfrm>
          <a:prstGeom prst="rect">
            <a:avLst/>
          </a:prstGeom>
          <a:solidFill>
            <a:srgbClr val="DECA4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Preliminary N = 2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6557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AD91-B82F-3E55-B598-F641E4C2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2BD89-E5F4-5129-34C8-6B0A82762C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8272162" y="5361185"/>
            <a:ext cx="3919838" cy="14944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392A1B4-BB53-54E4-0AA7-A9F536223E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739" y="6038821"/>
            <a:ext cx="1166555" cy="4222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9194E0-52BE-1AC6-E1A3-4682A3A65250}"/>
              </a:ext>
            </a:extLst>
          </p:cNvPr>
          <p:cNvSpPr txBox="1">
            <a:spLocks/>
          </p:cNvSpPr>
          <p:nvPr/>
        </p:nvSpPr>
        <p:spPr>
          <a:xfrm>
            <a:off x="0" y="2092235"/>
            <a:ext cx="12192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Hasini Weerathunge</a:t>
            </a:r>
            <a:r>
              <a:rPr lang="en-GB" sz="4000" b="1" baseline="300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  <a:r>
              <a:rPr lang="en-GB" sz="40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Hyunwoo Jang</a:t>
            </a:r>
            <a:r>
              <a:rPr lang="en-GB" sz="4000" b="1" baseline="300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2</a:t>
            </a:r>
            <a:r>
              <a:rPr lang="en-GB" sz="40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Emily Garnett</a:t>
            </a:r>
            <a:r>
              <a:rPr lang="en-GB" sz="4000" b="1" baseline="300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1</a:t>
            </a:r>
            <a:r>
              <a:rPr lang="en-GB" sz="40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Yanni Liu</a:t>
            </a:r>
            <a:r>
              <a:rPr lang="en-GB" sz="4000" b="1" baseline="300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1</a:t>
            </a:r>
            <a:r>
              <a:rPr lang="en-GB" sz="40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Zirui Huang</a:t>
            </a:r>
            <a:r>
              <a:rPr lang="en-GB" sz="4000" b="1" baseline="300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2</a:t>
            </a:r>
            <a:r>
              <a:rPr lang="en-GB" sz="40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Soo-Eun </a:t>
            </a:r>
            <a:r>
              <a:rPr lang="en-GB" sz="40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Chang</a:t>
            </a:r>
            <a:r>
              <a:rPr lang="en-GB" sz="4000" b="1" baseline="300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1</a:t>
            </a:r>
          </a:p>
          <a:p>
            <a:pPr algn="ctr"/>
            <a:endParaRPr lang="en-GB" sz="4000" b="1" dirty="0">
              <a:solidFill>
                <a:schemeClr val="accent2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3200" baseline="30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1</a:t>
            </a:r>
            <a:r>
              <a:rPr lang="en-US" sz="3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Department of Psychiatry, </a:t>
            </a:r>
            <a:r>
              <a:rPr lang="en-US" sz="3200" baseline="30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2</a:t>
            </a:r>
            <a:r>
              <a:rPr lang="en-US" sz="3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Department of Anesthesiology; University of Michigan, Ann Arbor, MI</a:t>
            </a:r>
          </a:p>
          <a:p>
            <a:pPr algn="ctr"/>
            <a:endParaRPr lang="en-GB" sz="32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" name="Google Shape;78;p14">
            <a:extLst>
              <a:ext uri="{FF2B5EF4-FFF2-40B4-BE49-F238E27FC236}">
                <a16:creationId xmlns:a16="http://schemas.microsoft.com/office/drawing/2014/main" id="{88E259FA-7259-74BC-D7C6-74304F9B754E}"/>
              </a:ext>
            </a:extLst>
          </p:cNvPr>
          <p:cNvSpPr txBox="1"/>
          <p:nvPr/>
        </p:nvSpPr>
        <p:spPr>
          <a:xfrm>
            <a:off x="10435516" y="113776"/>
            <a:ext cx="1650999" cy="343984"/>
          </a:xfrm>
          <a:prstGeom prst="rect">
            <a:avLst/>
          </a:prstGeom>
          <a:solidFill>
            <a:srgbClr val="D94018"/>
          </a:solidFill>
          <a:ln>
            <a:noFill/>
          </a:ln>
        </p:spPr>
        <p:txBody>
          <a:bodyPr spcFirstLastPara="1" wrap="square" lIns="63046" tIns="63046" rIns="63046" bIns="63046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Visit Our Poster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8E2C75-B220-3D95-703C-42A9597AE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3795" y="457760"/>
            <a:ext cx="1494439" cy="149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66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727</Words>
  <Application>Microsoft Office PowerPoint</Application>
  <PresentationFormat>Widescreen</PresentationFormat>
  <Paragraphs>87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Helvetica Neue</vt:lpstr>
      <vt:lpstr>Helvetica Neue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Adrianna Wojcik</dc:creator>
  <cp:lastModifiedBy>Weerathunge, Hasini</cp:lastModifiedBy>
  <cp:revision>8</cp:revision>
  <dcterms:created xsi:type="dcterms:W3CDTF">2026-08-20T11:38:31Z</dcterms:created>
  <dcterms:modified xsi:type="dcterms:W3CDTF">2026-09-14T19:50:24Z</dcterms:modified>
</cp:coreProperties>
</file>